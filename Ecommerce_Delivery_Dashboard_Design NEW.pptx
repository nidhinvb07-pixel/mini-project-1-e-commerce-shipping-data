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962821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4846320"/>
            <a:ext cx="2926080" cy="2926080"/>
          </a:xfrm>
          <a:prstGeom prst="ellipse">
            <a:avLst/>
          </a:prstGeom>
          <a:solidFill>
            <a:srgbClr val="29B6D8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54335" y="-1280160"/>
            <a:ext cx="2377440" cy="2377440"/>
          </a:xfrm>
          <a:prstGeom prst="ellipse">
            <a:avLst/>
          </a:prstGeom>
          <a:solidFill>
            <a:srgbClr val="E8743B">
              <a:alpha val="3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9659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9B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DELIVERY ANALYTICS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233172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BI Dashboard 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3375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FD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  •  Calculated columns  •  DAX measures  •  Chart mapping  •  Page layout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612648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E-commerce_Delivery_Shipping_Data_2026  •  50,000 orders  •  6 report pages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10896" cy="310896"/>
          </a:xfrm>
          <a:prstGeom prst="roundRect">
            <a:avLst>
              <a:gd name="adj" fmla="val 20588"/>
            </a:avLst>
          </a:prstGeom>
          <a:solidFill>
            <a:srgbClr val="0B1F3A"/>
          </a:solidFill>
          <a:ln/>
        </p:spPr>
      </p:sp>
      <p:sp>
        <p:nvSpPr>
          <p:cNvPr id="3" name="Shape 1"/>
          <p:cNvSpPr/>
          <p:nvPr/>
        </p:nvSpPr>
        <p:spPr>
          <a:xfrm>
            <a:off x="530352" y="457200"/>
            <a:ext cx="164592" cy="457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530352" y="548640"/>
            <a:ext cx="109728" cy="457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96112" y="310896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896112" y="71323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dashboard exists and what it needs to answer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0" y="6492240"/>
            <a:ext cx="116430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DELIVERY ANALYTICS  •  DASHBOARD DESIGN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11551615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96112" y="1389888"/>
            <a:ext cx="329184" cy="329184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96112" y="13898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1335024"/>
            <a:ext cx="6309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performance
</a:t>
            </a:r>
            <a:r>
              <a:rPr lang="en-US" sz="11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the split between on-time and late orders, and how it trends month to month.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96112" y="2322576"/>
            <a:ext cx="329184" cy="329184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96112" y="23225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371600" y="2267712"/>
            <a:ext cx="6309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efficiency
</a:t>
            </a:r>
            <a:r>
              <a:rPr lang="en-US" sz="11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 order value, shipping cost and distance to spot which shipping methods are efficient.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96112" y="3255264"/>
            <a:ext cx="329184" cy="329184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96112" y="32552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371600" y="3200400"/>
            <a:ext cx="6309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scorecards
</a:t>
            </a:r>
            <a:r>
              <a:rPr lang="en-US" sz="11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carriers and warehouses side-by-side on speed, cost and reliability.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96112" y="4187952"/>
            <a:ext cx="329184" cy="329184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96112" y="41879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371600" y="4133088"/>
            <a:ext cx="6309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patterns
</a:t>
            </a:r>
            <a:r>
              <a:rPr lang="en-US" sz="11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which countries and distance bands concentrate the most late deliveries.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829173" y="51206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371600" y="5065776"/>
            <a:ext cx="6309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8092440" y="1371600"/>
            <a:ext cx="3291840" cy="4434840"/>
          </a:xfrm>
          <a:prstGeom prst="roundRect">
            <a:avLst>
              <a:gd name="adj" fmla="val 2778"/>
            </a:avLst>
          </a:prstGeom>
          <a:solidFill>
            <a:srgbClr val="0B1F3A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321040" y="157276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29B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SNAPSHOT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8321040" y="19659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50,000</a:t>
            </a:r>
            <a:endParaRPr lang="en-US" sz="2400" dirty="0"/>
          </a:p>
        </p:txBody>
      </p:sp>
      <p:sp>
        <p:nvSpPr>
          <p:cNvPr id="27" name="Text 25"/>
          <p:cNvSpPr txBox="1"/>
          <p:nvPr/>
        </p:nvSpPr>
        <p:spPr>
          <a:xfrm>
            <a:off x="8321040" y="240487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F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8321040" y="27432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56.32%</a:t>
            </a:r>
            <a:endParaRPr lang="en-US" sz="2400" dirty="0"/>
          </a:p>
        </p:txBody>
      </p:sp>
      <p:sp>
        <p:nvSpPr>
          <p:cNvPr id="29" name="Text 27"/>
          <p:cNvSpPr txBox="1"/>
          <p:nvPr/>
        </p:nvSpPr>
        <p:spPr>
          <a:xfrm>
            <a:off x="8321040" y="318211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F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Delivery Rate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8321040" y="352044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43.68%</a:t>
            </a:r>
            <a:endParaRPr lang="en-US" sz="2400" dirty="0"/>
          </a:p>
        </p:txBody>
      </p:sp>
      <p:sp>
        <p:nvSpPr>
          <p:cNvPr id="31" name="Text 29"/>
          <p:cNvSpPr txBox="1"/>
          <p:nvPr/>
        </p:nvSpPr>
        <p:spPr>
          <a:xfrm>
            <a:off x="8321040" y="395935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F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On-Time Delivery Rate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8321040" y="429768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3.37</a:t>
            </a:r>
            <a:endParaRPr lang="en-US" sz="2400" dirty="0"/>
          </a:p>
        </p:txBody>
      </p:sp>
      <p:sp>
        <p:nvSpPr>
          <p:cNvPr id="33" name="Text 31"/>
          <p:cNvSpPr txBox="1"/>
          <p:nvPr/>
        </p:nvSpPr>
        <p:spPr>
          <a:xfrm>
            <a:off x="8321040" y="473659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F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Customer Rating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8321040" y="50749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$6.03M</a:t>
            </a:r>
            <a:endParaRPr lang="en-US" sz="2400" dirty="0"/>
          </a:p>
        </p:txBody>
      </p:sp>
      <p:sp>
        <p:nvSpPr>
          <p:cNvPr id="35" name="Text 33"/>
          <p:cNvSpPr txBox="1"/>
          <p:nvPr/>
        </p:nvSpPr>
        <p:spPr>
          <a:xfrm>
            <a:off x="8321040" y="551383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F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Shipping Cost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10896" cy="310896"/>
          </a:xfrm>
          <a:prstGeom prst="roundRect">
            <a:avLst>
              <a:gd name="adj" fmla="val 20588"/>
            </a:avLst>
          </a:prstGeom>
          <a:solidFill>
            <a:srgbClr val="0B1F3A"/>
          </a:solidFill>
          <a:ln/>
        </p:spPr>
      </p:sp>
      <p:sp>
        <p:nvSpPr>
          <p:cNvPr id="3" name="Shape 1"/>
          <p:cNvSpPr/>
          <p:nvPr/>
        </p:nvSpPr>
        <p:spPr>
          <a:xfrm>
            <a:off x="530352" y="457200"/>
            <a:ext cx="164592" cy="457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530352" y="548640"/>
            <a:ext cx="109728" cy="457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96112" y="310896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Raw Data to Dashboard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896112" y="71323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build sequence this data followed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0" y="6492240"/>
            <a:ext cx="116430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DELIVERY ANALYTICS  •  DASHBOARD DESIGN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11551615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96112" y="1554480"/>
            <a:ext cx="2468880" cy="2103120"/>
          </a:xfrm>
          <a:prstGeom prst="roundRect">
            <a:avLst>
              <a:gd name="adj" fmla="val 3478"/>
            </a:avLst>
          </a:prstGeom>
          <a:solidFill>
            <a:srgbClr val="132C4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96112" y="1682496"/>
            <a:ext cx="24688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987552" y="327355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BFD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Columns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593592" y="1554480"/>
            <a:ext cx="2468880" cy="2103120"/>
          </a:xfrm>
          <a:prstGeom prst="roundRect">
            <a:avLst>
              <a:gd name="adj" fmla="val 3478"/>
            </a:avLst>
          </a:prstGeom>
          <a:solidFill>
            <a:srgbClr val="132C4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593592" y="1682496"/>
            <a:ext cx="24688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3685032" y="327355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BFD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Calculated Columns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291072" y="1554480"/>
            <a:ext cx="2468880" cy="2103120"/>
          </a:xfrm>
          <a:prstGeom prst="roundRect">
            <a:avLst>
              <a:gd name="adj" fmla="val 3478"/>
            </a:avLst>
          </a:prstGeom>
          <a:solidFill>
            <a:srgbClr val="132C4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291072" y="1682496"/>
            <a:ext cx="24688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</a:t>
            </a:r>
            <a:endParaRPr lang="en-US" sz="2600" dirty="0"/>
          </a:p>
        </p:txBody>
      </p:sp>
      <p:sp>
        <p:nvSpPr>
          <p:cNvPr id="17" name="Text 15"/>
          <p:cNvSpPr txBox="1"/>
          <p:nvPr/>
        </p:nvSpPr>
        <p:spPr>
          <a:xfrm>
            <a:off x="6382512" y="327355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BFD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 Measures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988552" y="1554480"/>
            <a:ext cx="2468880" cy="2103120"/>
          </a:xfrm>
          <a:prstGeom prst="roundRect">
            <a:avLst>
              <a:gd name="adj" fmla="val 3478"/>
            </a:avLst>
          </a:prstGeom>
          <a:solidFill>
            <a:srgbClr val="E8743B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988552" y="1682496"/>
            <a:ext cx="24688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600" dirty="0"/>
          </a:p>
        </p:txBody>
      </p:sp>
      <p:sp>
        <p:nvSpPr>
          <p:cNvPr id="20" name="Text 18"/>
          <p:cNvSpPr txBox="1"/>
          <p:nvPr/>
        </p:nvSpPr>
        <p:spPr>
          <a:xfrm>
            <a:off x="9079992" y="327355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Pages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914400" y="4069080"/>
            <a:ext cx="10332720" cy="0"/>
          </a:xfrm>
          <a:prstGeom prst="line">
            <a:avLst/>
          </a:prstGeom>
          <a:noFill/>
          <a:ln w="12700">
            <a:solidFill>
              <a:srgbClr val="D7E0EB"/>
            </a:solidFill>
            <a:prstDash val="dash"/>
          </a:ln>
        </p:spPr>
      </p:sp>
      <p:sp>
        <p:nvSpPr>
          <p:cNvPr id="22" name="Text 20"/>
          <p:cNvSpPr txBox="1"/>
          <p:nvPr/>
        </p:nvSpPr>
        <p:spPr>
          <a:xfrm>
            <a:off x="896112" y="434340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fact table  </a:t>
            </a:r>
            <a:r>
              <a:rPr lang="en-US" sz="14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cleaned &amp; bucketed with calculated columns  →  </a:t>
            </a: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summarized with DAX measures  </a:t>
            </a:r>
            <a:r>
              <a:rPr lang="en-US" sz="14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assembled into  </a:t>
            </a: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report pages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896112" y="5074920"/>
            <a:ext cx="10332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Table:  E-commerce_Delivery_Shipping_Data_2026   —  19 of the 30 source columns are referenced directly in this report's visuals:  (Order_id, Order_date, Delivery_status, Carrier, Warehouse_city / _id, Shipping_method, Customer_country / _city / _id / _segment, Package_size, Weather_condition, Distance_km, Order_value_usd, Shipping_cost_usd, Actual_delivery_days, Promised_delivery_days, Delivery_attempts, Late_delivery)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10896" cy="310896"/>
          </a:xfrm>
          <a:prstGeom prst="roundRect">
            <a:avLst>
              <a:gd name="adj" fmla="val 20588"/>
            </a:avLst>
          </a:prstGeom>
          <a:solidFill>
            <a:srgbClr val="0B1F3A"/>
          </a:solidFill>
          <a:ln/>
        </p:spPr>
      </p:sp>
      <p:sp>
        <p:nvSpPr>
          <p:cNvPr id="3" name="Shape 1"/>
          <p:cNvSpPr/>
          <p:nvPr/>
        </p:nvSpPr>
        <p:spPr>
          <a:xfrm>
            <a:off x="530352" y="457200"/>
            <a:ext cx="164592" cy="457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530352" y="548640"/>
            <a:ext cx="109728" cy="457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96112" y="310896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Calculated Columns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896112" y="71323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of 9 — the ones referenced by at least one chart across the report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0" y="6492240"/>
            <a:ext cx="116430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DELIVERY ANALYTICS  •  DASHBOARD DESIGN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11551615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437932"/>
              </p:ext>
            </p:extLst>
          </p:nvPr>
        </p:nvGraphicFramePr>
        <p:xfrm>
          <a:off x="896112" y="1417320"/>
          <a:ext cx="10515600" cy="388620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80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772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 Value Band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Buckets each order into a price tier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100" dirty="0"/>
                        <a:t>Order values are grouped into predefined ranges to understand the distribution of orders by value: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Delivery Performance Band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Groups each order's delivery outcome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Buckets orders (e.g. on-time / mildly late / very late) for the performance-band column chart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Distance Band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Groups shipping distance into ranges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Used to compare the late-delivery rate across short vs. long routes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SLA Met Flag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Marks whether an order met its SLA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Counted (non-null) per shipping method to gauge SLA compliance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" name="Text 8"/>
          <p:cNvSpPr txBox="1"/>
          <p:nvPr/>
        </p:nvSpPr>
        <p:spPr>
          <a:xfrm>
            <a:off x="1097280" y="5468112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10896" cy="310896"/>
          </a:xfrm>
          <a:prstGeom prst="roundRect">
            <a:avLst>
              <a:gd name="adj" fmla="val 20588"/>
            </a:avLst>
          </a:prstGeom>
          <a:solidFill>
            <a:srgbClr val="0B1F3A"/>
          </a:solidFill>
          <a:ln/>
        </p:spPr>
      </p:sp>
      <p:sp>
        <p:nvSpPr>
          <p:cNvPr id="3" name="Shape 1"/>
          <p:cNvSpPr/>
          <p:nvPr/>
        </p:nvSpPr>
        <p:spPr>
          <a:xfrm>
            <a:off x="530352" y="457200"/>
            <a:ext cx="164592" cy="457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530352" y="548640"/>
            <a:ext cx="109728" cy="457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96112" y="310896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DAX Measures — Volume, Cost &amp; Delivery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896112" y="71323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of 26 measures — the first half referenced by the KPI cards and charts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0" y="6492240"/>
            <a:ext cx="116430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DELIVERY ANALYTICS  •  DASHBOARD DESIGN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11551615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96112" y="1417320"/>
          <a:ext cx="10332720" cy="4572000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40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Measure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Orders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Headline count of all orders — the report's core denominator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 Delivery Rate 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 of orders delivered after the promised date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On-Time Delivery Rate 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Complement of late rate — share delivered on or before promise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Average Customer Rating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 customer satisfaction score across orders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Shipping Cost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Sum of shipping cost across all orders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Order Value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Sum of order value across all orders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Average Shipping Cost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 shipping cost per order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Average Delivery delays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Average number of days late, among delayed orders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Average Delivery Attempts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Average number of delivery attempts per order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10896" cy="310896"/>
          </a:xfrm>
          <a:prstGeom prst="roundRect">
            <a:avLst>
              <a:gd name="adj" fmla="val 20588"/>
            </a:avLst>
          </a:prstGeom>
          <a:solidFill>
            <a:srgbClr val="0B1F3A"/>
          </a:solidFill>
          <a:ln/>
        </p:spPr>
      </p:sp>
      <p:sp>
        <p:nvSpPr>
          <p:cNvPr id="3" name="Shape 1"/>
          <p:cNvSpPr/>
          <p:nvPr/>
        </p:nvSpPr>
        <p:spPr>
          <a:xfrm>
            <a:off x="530352" y="457200"/>
            <a:ext cx="164592" cy="457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530352" y="548640"/>
            <a:ext cx="109728" cy="457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96112" y="310896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DAX Measures — Operations &amp; Drill-Through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896112" y="71323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more of 26 — used for scorecards and order-level detail (9 measures not shown aren't used in any visual)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0" y="6492240"/>
            <a:ext cx="116430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DELIVERY ANALYTICS  •  DASHBOARD DESIGN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11551615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96112" y="1417320"/>
          <a:ext cx="10332720" cy="4526280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40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Measure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Average Distance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Average shipping distance per order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Processing Hrs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Average warehouse processing time before an order dispatches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 Index Rate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Weighted lateness score used to rank carriers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Repeat delivery Attempts 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 of orders needing more than one delivery attempt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Promised Delivery Days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Average promised delivery window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Actual Delivery days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Average actual delivery time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Shipping Cost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Per-order shipping cost, shown in the order drill-through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Per-order customer rating, shown in the order drill-through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10896" cy="310896"/>
          </a:xfrm>
          <a:prstGeom prst="roundRect">
            <a:avLst>
              <a:gd name="adj" fmla="val 20588"/>
            </a:avLst>
          </a:prstGeom>
          <a:solidFill>
            <a:srgbClr val="0B1F3A"/>
          </a:solidFill>
          <a:ln/>
        </p:spPr>
      </p:sp>
      <p:sp>
        <p:nvSpPr>
          <p:cNvPr id="3" name="Shape 1"/>
          <p:cNvSpPr/>
          <p:nvPr/>
        </p:nvSpPr>
        <p:spPr>
          <a:xfrm>
            <a:off x="530352" y="457200"/>
            <a:ext cx="164592" cy="457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530352" y="548640"/>
            <a:ext cx="109728" cy="457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96112" y="310896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Chart Usage Mapping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896112" y="71323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visual carries each insight, and why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0" y="6492240"/>
            <a:ext cx="116430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DELIVERY ANALYTICS  •  DASHBOARD DESIGN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11551615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96112" y="1371600"/>
          <a:ext cx="10332720" cy="4846320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80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46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Insight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Headline KPIs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Card visuals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Instant read on scale and performance before drilling in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Late-delivery trend by month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 chart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Shows seasonality and direction over time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 mix by delivery status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Donut chart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Compares parts of a whole at a glance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Distance vs. delivery time vs. lateness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Scatter chart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Reveals whether longer routes drive delays, three variables at once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 value vs. shipping cost by method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Scatter (bubble) chart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Compares cost efficiency across shipping methods, sized by distance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Carrier / warehouse scorecards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Dense side-by-side comparison across many metrics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 rate by country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Filled map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Shows geographic concentration of late deliveries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 rate by distance band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Bar chart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Compares lateness across distance buckets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Order-level detail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Pivot table / drill-through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Lets a user inspect any single order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10896" cy="310896"/>
          </a:xfrm>
          <a:prstGeom prst="roundRect">
            <a:avLst>
              <a:gd name="adj" fmla="val 20588"/>
            </a:avLst>
          </a:prstGeom>
          <a:solidFill>
            <a:srgbClr val="29B6D8"/>
          </a:solidFill>
          <a:ln/>
        </p:spPr>
      </p:sp>
      <p:sp>
        <p:nvSpPr>
          <p:cNvPr id="3" name="Shape 1"/>
          <p:cNvSpPr/>
          <p:nvPr/>
        </p:nvSpPr>
        <p:spPr>
          <a:xfrm>
            <a:off x="530352" y="457200"/>
            <a:ext cx="164592" cy="457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530352" y="548640"/>
            <a:ext cx="109728" cy="457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96112" y="310896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Overview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896112" y="731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9B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  •  Carrier, Warehouse, Method, Country filters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11551615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96112" y="1234440"/>
            <a:ext cx="1938528" cy="960120"/>
          </a:xfrm>
          <a:prstGeom prst="roundRect">
            <a:avLst>
              <a:gd name="adj" fmla="val 8571"/>
            </a:avLst>
          </a:prstGeom>
          <a:solidFill>
            <a:srgbClr val="132C4F"/>
          </a:solidFill>
          <a:ln w="9525">
            <a:solidFill>
              <a:srgbClr val="29B6D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96112" y="1325880"/>
            <a:ext cx="1938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50K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969264" y="1810512"/>
            <a:ext cx="17922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AF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980944" y="1234440"/>
            <a:ext cx="1938528" cy="960120"/>
          </a:xfrm>
          <a:prstGeom prst="roundRect">
            <a:avLst>
              <a:gd name="adj" fmla="val 8571"/>
            </a:avLst>
          </a:prstGeom>
          <a:solidFill>
            <a:srgbClr val="132C4F"/>
          </a:solidFill>
          <a:ln w="9525">
            <a:solidFill>
              <a:srgbClr val="29B6D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980944" y="1325880"/>
            <a:ext cx="1938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56.32%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3054096" y="1810512"/>
            <a:ext cx="17922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AF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Delivery Rate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065776" y="1234440"/>
            <a:ext cx="1938528" cy="960120"/>
          </a:xfrm>
          <a:prstGeom prst="roundRect">
            <a:avLst>
              <a:gd name="adj" fmla="val 8571"/>
            </a:avLst>
          </a:prstGeom>
          <a:solidFill>
            <a:srgbClr val="132C4F"/>
          </a:solidFill>
          <a:ln w="9525">
            <a:solidFill>
              <a:srgbClr val="29B6D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065776" y="1325880"/>
            <a:ext cx="1938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43.68%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5138928" y="1810512"/>
            <a:ext cx="17922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AF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On-Time Delivery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7150608" y="1234440"/>
            <a:ext cx="1938528" cy="960120"/>
          </a:xfrm>
          <a:prstGeom prst="roundRect">
            <a:avLst>
              <a:gd name="adj" fmla="val 8571"/>
            </a:avLst>
          </a:prstGeom>
          <a:solidFill>
            <a:srgbClr val="132C4F"/>
          </a:solidFill>
          <a:ln w="9525">
            <a:solidFill>
              <a:srgbClr val="29B6D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150608" y="1325880"/>
            <a:ext cx="1938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3.37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7223760" y="1810512"/>
            <a:ext cx="17922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AF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Customer Rating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9235440" y="1234440"/>
            <a:ext cx="1938528" cy="960120"/>
          </a:xfrm>
          <a:prstGeom prst="roundRect">
            <a:avLst>
              <a:gd name="adj" fmla="val 8571"/>
            </a:avLst>
          </a:prstGeom>
          <a:solidFill>
            <a:srgbClr val="132C4F"/>
          </a:solidFill>
          <a:ln w="9525">
            <a:solidFill>
              <a:srgbClr val="29B6D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235440" y="1325880"/>
            <a:ext cx="1938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$6.03M</a:t>
            </a:r>
            <a:endParaRPr lang="en-US" sz="2200" dirty="0"/>
          </a:p>
        </p:txBody>
      </p:sp>
      <p:sp>
        <p:nvSpPr>
          <p:cNvPr id="22" name="Text 20"/>
          <p:cNvSpPr txBox="1"/>
          <p:nvPr/>
        </p:nvSpPr>
        <p:spPr>
          <a:xfrm>
            <a:off x="9308592" y="1810512"/>
            <a:ext cx="17922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AF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Shipping Cost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896112" y="2468880"/>
            <a:ext cx="3325368" cy="3566160"/>
          </a:xfrm>
          <a:prstGeom prst="roundRect">
            <a:avLst>
              <a:gd name="adj" fmla="val 1925"/>
            </a:avLst>
          </a:prstGeom>
          <a:solidFill>
            <a:srgbClr val="132C4F"/>
          </a:solidFill>
          <a:ln w="12700">
            <a:solidFill>
              <a:srgbClr val="24476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24128" y="2596896"/>
            <a:ext cx="822960" cy="274320"/>
          </a:xfrm>
          <a:prstGeom prst="roundRect">
            <a:avLst>
              <a:gd name="adj" fmla="val 50000"/>
            </a:avLst>
          </a:prstGeom>
          <a:solidFill>
            <a:srgbClr val="29B6D8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1024128" y="259689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</a:t>
            </a:r>
            <a:endParaRPr lang="en-US" sz="850" dirty="0"/>
          </a:p>
        </p:txBody>
      </p:sp>
      <p:sp>
        <p:nvSpPr>
          <p:cNvPr id="26" name="Text 24"/>
          <p:cNvSpPr txBox="1"/>
          <p:nvPr/>
        </p:nvSpPr>
        <p:spPr>
          <a:xfrm>
            <a:off x="1042416" y="2944368"/>
            <a:ext cx="3032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Delivery Rate % by Month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1042416" y="3383280"/>
            <a:ext cx="303276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AF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how the late-delivery rate moves month over month, to catch seasonal spikes.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422648" y="2468880"/>
            <a:ext cx="3325368" cy="3566160"/>
          </a:xfrm>
          <a:prstGeom prst="roundRect">
            <a:avLst>
              <a:gd name="adj" fmla="val 1925"/>
            </a:avLst>
          </a:prstGeom>
          <a:solidFill>
            <a:srgbClr val="132C4F"/>
          </a:solidFill>
          <a:ln w="12700">
            <a:solidFill>
              <a:srgbClr val="24476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50664" y="2596896"/>
            <a:ext cx="822960" cy="274320"/>
          </a:xfrm>
          <a:prstGeom prst="roundRect">
            <a:avLst>
              <a:gd name="adj" fmla="val 50000"/>
            </a:avLst>
          </a:prstGeom>
          <a:solidFill>
            <a:srgbClr val="29B6D8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4550664" y="259689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DONUT</a:t>
            </a:r>
            <a:endParaRPr lang="en-US" sz="850" dirty="0"/>
          </a:p>
        </p:txBody>
      </p:sp>
      <p:sp>
        <p:nvSpPr>
          <p:cNvPr id="31" name="Text 29"/>
          <p:cNvSpPr txBox="1"/>
          <p:nvPr/>
        </p:nvSpPr>
        <p:spPr>
          <a:xfrm>
            <a:off x="4568952" y="2944368"/>
            <a:ext cx="3032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 by Delivery Status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4568952" y="3383280"/>
            <a:ext cx="303276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AF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Splits the full order base by outcome (delivered, in transit, late, etc.).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7949184" y="2468880"/>
            <a:ext cx="3325368" cy="3566160"/>
          </a:xfrm>
          <a:prstGeom prst="roundRect">
            <a:avLst>
              <a:gd name="adj" fmla="val 1925"/>
            </a:avLst>
          </a:prstGeom>
          <a:solidFill>
            <a:srgbClr val="132C4F"/>
          </a:solidFill>
          <a:ln w="12700">
            <a:solidFill>
              <a:srgbClr val="24476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077200" y="2596896"/>
            <a:ext cx="822960" cy="274320"/>
          </a:xfrm>
          <a:prstGeom prst="roundRect">
            <a:avLst>
              <a:gd name="adj" fmla="val 50000"/>
            </a:avLst>
          </a:prstGeom>
          <a:solidFill>
            <a:srgbClr val="29B6D8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8077200" y="259689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</a:t>
            </a:r>
            <a:endParaRPr lang="en-US" sz="850" dirty="0"/>
          </a:p>
        </p:txBody>
      </p:sp>
      <p:sp>
        <p:nvSpPr>
          <p:cNvPr id="36" name="Text 34"/>
          <p:cNvSpPr txBox="1"/>
          <p:nvPr/>
        </p:nvSpPr>
        <p:spPr>
          <a:xfrm>
            <a:off x="8095488" y="2944368"/>
            <a:ext cx="3032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 by Delivery Performance Band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8095488" y="3383280"/>
            <a:ext cx="303276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AF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Compares order volume across performance tiers.</a:t>
            </a:r>
            <a:endParaRPr lang="en-US" sz="950" dirty="0"/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F89942C8-531A-F305-071E-3B500C58D1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690133"/>
            <a:ext cx="10856671" cy="553259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10896" cy="310896"/>
          </a:xfrm>
          <a:prstGeom prst="roundRect">
            <a:avLst>
              <a:gd name="adj" fmla="val 20588"/>
            </a:avLst>
          </a:prstGeom>
          <a:solidFill>
            <a:srgbClr val="29B6D8"/>
          </a:solidFill>
          <a:ln/>
        </p:spPr>
      </p:sp>
      <p:sp>
        <p:nvSpPr>
          <p:cNvPr id="3" name="Shape 1"/>
          <p:cNvSpPr/>
          <p:nvPr/>
        </p:nvSpPr>
        <p:spPr>
          <a:xfrm>
            <a:off x="530352" y="457200"/>
            <a:ext cx="164592" cy="457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530352" y="548640"/>
            <a:ext cx="109728" cy="457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96112" y="310896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Delivery Performance &amp; SLA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896112" y="731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9B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2  •  How well SLAs are being kept, and where they slip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11551615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96112" y="1234440"/>
            <a:ext cx="5088636" cy="2331720"/>
          </a:xfrm>
          <a:prstGeom prst="roundRect">
            <a:avLst>
              <a:gd name="adj" fmla="val 2745"/>
            </a:avLst>
          </a:prstGeom>
          <a:solidFill>
            <a:srgbClr val="132C4F"/>
          </a:solidFill>
          <a:ln w="12700">
            <a:solidFill>
              <a:srgbClr val="24476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24128" y="1362456"/>
            <a:ext cx="822960" cy="274320"/>
          </a:xfrm>
          <a:prstGeom prst="roundRect">
            <a:avLst>
              <a:gd name="adj" fmla="val 50000"/>
            </a:avLst>
          </a:prstGeom>
          <a:solidFill>
            <a:srgbClr val="29B6D8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24128" y="136245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</a:t>
            </a:r>
            <a:endParaRPr lang="en-US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1042416" y="1709928"/>
            <a:ext cx="47960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Met Count by Shipping Method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042416" y="2148840"/>
            <a:ext cx="479602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AF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Benchmarks SLA compliance across Economy, Express, International, Same Day and Standard.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185916" y="1234440"/>
            <a:ext cx="5088636" cy="2331720"/>
          </a:xfrm>
          <a:prstGeom prst="roundRect">
            <a:avLst>
              <a:gd name="adj" fmla="val 2745"/>
            </a:avLst>
          </a:prstGeom>
          <a:solidFill>
            <a:srgbClr val="132C4F"/>
          </a:solidFill>
          <a:ln w="12700">
            <a:solidFill>
              <a:srgbClr val="24476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13932" y="1362456"/>
            <a:ext cx="822960" cy="274320"/>
          </a:xfrm>
          <a:prstGeom prst="roundRect">
            <a:avLst>
              <a:gd name="adj" fmla="val 50000"/>
            </a:avLst>
          </a:prstGeom>
          <a:solidFill>
            <a:srgbClr val="29B6D8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313932" y="136245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</a:t>
            </a:r>
            <a:endParaRPr lang="en-US" sz="850" dirty="0"/>
          </a:p>
        </p:txBody>
      </p:sp>
      <p:sp>
        <p:nvSpPr>
          <p:cNvPr id="16" name="Text 14"/>
          <p:cNvSpPr txBox="1"/>
          <p:nvPr/>
        </p:nvSpPr>
        <p:spPr>
          <a:xfrm>
            <a:off x="6332220" y="1709928"/>
            <a:ext cx="47960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vs. Actual Delivery Days (by Late flag)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332220" y="2148840"/>
            <a:ext cx="479602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AF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whether longer routes are what's actually driving late deliveries.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896112" y="3767328"/>
            <a:ext cx="5088636" cy="2331720"/>
          </a:xfrm>
          <a:prstGeom prst="roundRect">
            <a:avLst>
              <a:gd name="adj" fmla="val 2745"/>
            </a:avLst>
          </a:prstGeom>
          <a:solidFill>
            <a:srgbClr val="132C4F"/>
          </a:solidFill>
          <a:ln w="12700">
            <a:solidFill>
              <a:srgbClr val="24476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24128" y="3895344"/>
            <a:ext cx="822960" cy="274320"/>
          </a:xfrm>
          <a:prstGeom prst="roundRect">
            <a:avLst>
              <a:gd name="adj" fmla="val 50000"/>
            </a:avLst>
          </a:prstGeom>
          <a:solidFill>
            <a:srgbClr val="29B6D8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1024128" y="389534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COL</a:t>
            </a:r>
            <a:endParaRPr lang="en-US" sz="850" dirty="0"/>
          </a:p>
        </p:txBody>
      </p:sp>
      <p:sp>
        <p:nvSpPr>
          <p:cNvPr id="21" name="Text 19"/>
          <p:cNvSpPr txBox="1"/>
          <p:nvPr/>
        </p:nvSpPr>
        <p:spPr>
          <a:xfrm>
            <a:off x="1042416" y="4242816"/>
            <a:ext cx="47960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Delivery Delay by Weather Condition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1042416" y="4681728"/>
            <a:ext cx="479602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AF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Compares average lateness across weather conditions at time of shipment.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185916" y="3767328"/>
            <a:ext cx="5088636" cy="2331720"/>
          </a:xfrm>
          <a:prstGeom prst="roundRect">
            <a:avLst>
              <a:gd name="adj" fmla="val 2745"/>
            </a:avLst>
          </a:prstGeom>
          <a:solidFill>
            <a:srgbClr val="132C4F"/>
          </a:solidFill>
          <a:ln w="12700">
            <a:solidFill>
              <a:srgbClr val="24476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332220" y="3858768"/>
            <a:ext cx="47960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Warehouse_city × Package_size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6332220" y="4169664"/>
            <a:ext cx="4796028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AF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value (sum)   •   Late Delivery Rate %</a:t>
            </a:r>
            <a:endParaRPr lang="en-US" sz="900" dirty="0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359D00A6-AD46-B8B1-03FE-B20A395047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" y="758952"/>
            <a:ext cx="10671235" cy="550973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10896" cy="310896"/>
          </a:xfrm>
          <a:prstGeom prst="roundRect">
            <a:avLst>
              <a:gd name="adj" fmla="val 20588"/>
            </a:avLst>
          </a:prstGeom>
          <a:solidFill>
            <a:srgbClr val="29B6D8"/>
          </a:solidFill>
          <a:ln/>
        </p:spPr>
      </p:sp>
      <p:sp>
        <p:nvSpPr>
          <p:cNvPr id="3" name="Shape 1"/>
          <p:cNvSpPr/>
          <p:nvPr/>
        </p:nvSpPr>
        <p:spPr>
          <a:xfrm>
            <a:off x="530352" y="457200"/>
            <a:ext cx="164592" cy="457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530352" y="548640"/>
            <a:ext cx="109728" cy="457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96112" y="310896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Carrier &amp; Warehouse Scorecards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896112" y="731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9B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3  •  Operational comparison across carriers and warehouses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11551615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96112" y="1234440"/>
            <a:ext cx="5088636" cy="2148840"/>
          </a:xfrm>
          <a:prstGeom prst="roundRect">
            <a:avLst>
              <a:gd name="adj" fmla="val 2979"/>
            </a:avLst>
          </a:prstGeom>
          <a:solidFill>
            <a:srgbClr val="132C4F"/>
          </a:solidFill>
          <a:ln w="12700">
            <a:solidFill>
              <a:srgbClr val="2447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42416" y="1325880"/>
            <a:ext cx="47960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Carrier Scorecard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1042416" y="1636776"/>
            <a:ext cx="479602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AF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   •   Late Delivery Rate %   •   Avg Delivery delays   •   Late Index Rate   •   Avg Delivery Attempts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185916" y="1234440"/>
            <a:ext cx="5088636" cy="2148840"/>
          </a:xfrm>
          <a:prstGeom prst="roundRect">
            <a:avLst>
              <a:gd name="adj" fmla="val 2979"/>
            </a:avLst>
          </a:prstGeom>
          <a:solidFill>
            <a:srgbClr val="132C4F"/>
          </a:solidFill>
          <a:ln w="12700">
            <a:solidFill>
              <a:srgbClr val="24476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332220" y="1325880"/>
            <a:ext cx="47960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 Scorecard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6332220" y="1636776"/>
            <a:ext cx="479602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AF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Warehouse_id   •   Total Orders   •   Avg Processing Hrs   •   Late Delivery Rate %   •   Average Distance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896112" y="3584448"/>
            <a:ext cx="10378440" cy="2377440"/>
          </a:xfrm>
          <a:prstGeom prst="roundRect">
            <a:avLst>
              <a:gd name="adj" fmla="val 2692"/>
            </a:avLst>
          </a:prstGeom>
          <a:solidFill>
            <a:srgbClr val="132C4F"/>
          </a:solidFill>
          <a:ln w="12700">
            <a:solidFill>
              <a:srgbClr val="24476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24128" y="3712464"/>
            <a:ext cx="822960" cy="274320"/>
          </a:xfrm>
          <a:prstGeom prst="roundRect">
            <a:avLst>
              <a:gd name="adj" fmla="val 50000"/>
            </a:avLst>
          </a:prstGeom>
          <a:solidFill>
            <a:srgbClr val="29B6D8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024128" y="371246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COL</a:t>
            </a:r>
            <a:endParaRPr lang="en-US" sz="850" dirty="0"/>
          </a:p>
        </p:txBody>
      </p:sp>
      <p:sp>
        <p:nvSpPr>
          <p:cNvPr id="17" name="Text 15"/>
          <p:cNvSpPr txBox="1"/>
          <p:nvPr/>
        </p:nvSpPr>
        <p:spPr>
          <a:xfrm>
            <a:off x="1042416" y="4059936"/>
            <a:ext cx="10085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Delivery Attempts % by Carrier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1042416" y="4498848"/>
            <a:ext cx="1008583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AF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which carriers most often need a second (or third) delivery attempt.</a:t>
            </a:r>
            <a:endParaRPr lang="en-US" sz="95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19C76B64-31F5-84FA-EFCF-D9D97F8CD1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" y="666510"/>
            <a:ext cx="10561880" cy="552497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10896" cy="310896"/>
          </a:xfrm>
          <a:prstGeom prst="roundRect">
            <a:avLst>
              <a:gd name="adj" fmla="val 20588"/>
            </a:avLst>
          </a:prstGeom>
          <a:solidFill>
            <a:srgbClr val="29B6D8"/>
          </a:solidFill>
          <a:ln/>
        </p:spPr>
      </p:sp>
      <p:sp>
        <p:nvSpPr>
          <p:cNvPr id="3" name="Shape 1"/>
          <p:cNvSpPr/>
          <p:nvPr/>
        </p:nvSpPr>
        <p:spPr>
          <a:xfrm>
            <a:off x="530352" y="457200"/>
            <a:ext cx="164592" cy="457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530352" y="548640"/>
            <a:ext cx="109728" cy="457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96112" y="310896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 &amp; Shipping Economics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896112" y="731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9B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4  •  Where cost, order value and distance line up — or don't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11551615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96112" y="1234440"/>
            <a:ext cx="3291840" cy="914400"/>
          </a:xfrm>
          <a:prstGeom prst="roundRect">
            <a:avLst>
              <a:gd name="adj" fmla="val 9000"/>
            </a:avLst>
          </a:prstGeom>
          <a:solidFill>
            <a:srgbClr val="132C4F"/>
          </a:solidFill>
          <a:ln w="9525">
            <a:solidFill>
              <a:srgbClr val="29B6D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96112" y="13258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$6.03M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969264" y="1764792"/>
            <a:ext cx="31455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AF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Shipping Cost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389120" y="1234440"/>
            <a:ext cx="3291840" cy="914400"/>
          </a:xfrm>
          <a:prstGeom prst="roundRect">
            <a:avLst>
              <a:gd name="adj" fmla="val 9000"/>
            </a:avLst>
          </a:prstGeom>
          <a:solidFill>
            <a:srgbClr val="132C4F"/>
          </a:solidFill>
          <a:ln w="9525">
            <a:solidFill>
              <a:srgbClr val="29B6D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389120" y="13258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$8.90M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4462272" y="1764792"/>
            <a:ext cx="31455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AF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 Value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7882128" y="1234440"/>
            <a:ext cx="3291840" cy="914400"/>
          </a:xfrm>
          <a:prstGeom prst="roundRect">
            <a:avLst>
              <a:gd name="adj" fmla="val 9000"/>
            </a:avLst>
          </a:prstGeom>
          <a:solidFill>
            <a:srgbClr val="132C4F"/>
          </a:solidFill>
          <a:ln w="9525">
            <a:solidFill>
              <a:srgbClr val="29B6D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882128" y="13258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$120.52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7955280" y="1764792"/>
            <a:ext cx="31455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AF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Shipping Cost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896112" y="2377440"/>
            <a:ext cx="3325368" cy="3657600"/>
          </a:xfrm>
          <a:prstGeom prst="roundRect">
            <a:avLst>
              <a:gd name="adj" fmla="val 1925"/>
            </a:avLst>
          </a:prstGeom>
          <a:solidFill>
            <a:srgbClr val="132C4F"/>
          </a:solidFill>
          <a:ln w="12700">
            <a:solidFill>
              <a:srgbClr val="24476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24128" y="2505456"/>
            <a:ext cx="822960" cy="274320"/>
          </a:xfrm>
          <a:prstGeom prst="roundRect">
            <a:avLst>
              <a:gd name="adj" fmla="val 50000"/>
            </a:avLst>
          </a:prstGeom>
          <a:solidFill>
            <a:srgbClr val="29B6D8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1024128" y="250545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</a:t>
            </a:r>
            <a:endParaRPr lang="en-US" sz="850" dirty="0"/>
          </a:p>
        </p:txBody>
      </p:sp>
      <p:sp>
        <p:nvSpPr>
          <p:cNvPr id="20" name="Text 18"/>
          <p:cNvSpPr txBox="1"/>
          <p:nvPr/>
        </p:nvSpPr>
        <p:spPr>
          <a:xfrm>
            <a:off x="1042416" y="2852928"/>
            <a:ext cx="3032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Value vs. Shipping Cost by Method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1042416" y="3291840"/>
            <a:ext cx="30327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AF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Bubble size = distance, color = shipping method — the outlier bubble (International) costs and travels the most.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422648" y="2377440"/>
            <a:ext cx="3325368" cy="3657600"/>
          </a:xfrm>
          <a:prstGeom prst="roundRect">
            <a:avLst>
              <a:gd name="adj" fmla="val 1925"/>
            </a:avLst>
          </a:prstGeom>
          <a:solidFill>
            <a:srgbClr val="132C4F"/>
          </a:solidFill>
          <a:ln w="12700">
            <a:solidFill>
              <a:srgbClr val="24476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50664" y="2505456"/>
            <a:ext cx="822960" cy="274320"/>
          </a:xfrm>
          <a:prstGeom prst="roundRect">
            <a:avLst>
              <a:gd name="adj" fmla="val 50000"/>
            </a:avLst>
          </a:prstGeom>
          <a:solidFill>
            <a:srgbClr val="29B6D8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4550664" y="250545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COL</a:t>
            </a:r>
            <a:endParaRPr lang="en-US" sz="850" dirty="0"/>
          </a:p>
        </p:txBody>
      </p:sp>
      <p:sp>
        <p:nvSpPr>
          <p:cNvPr id="25" name="Text 23"/>
          <p:cNvSpPr txBox="1"/>
          <p:nvPr/>
        </p:nvSpPr>
        <p:spPr>
          <a:xfrm>
            <a:off x="4568952" y="2852928"/>
            <a:ext cx="3032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 by Order Value Band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4568952" y="3291840"/>
            <a:ext cx="30327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AF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where most orders sit on the price spectrum.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7949184" y="2377440"/>
            <a:ext cx="3325368" cy="3657600"/>
          </a:xfrm>
          <a:prstGeom prst="roundRect">
            <a:avLst>
              <a:gd name="adj" fmla="val 1925"/>
            </a:avLst>
          </a:prstGeom>
          <a:solidFill>
            <a:srgbClr val="132C4F"/>
          </a:solidFill>
          <a:ln w="12700">
            <a:solidFill>
              <a:srgbClr val="24476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077200" y="2505456"/>
            <a:ext cx="822960" cy="274320"/>
          </a:xfrm>
          <a:prstGeom prst="roundRect">
            <a:avLst>
              <a:gd name="adj" fmla="val 50000"/>
            </a:avLst>
          </a:prstGeom>
          <a:solidFill>
            <a:srgbClr val="29B6D8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8077200" y="250545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</a:t>
            </a:r>
            <a:endParaRPr lang="en-US" sz="850" dirty="0"/>
          </a:p>
        </p:txBody>
      </p:sp>
      <p:sp>
        <p:nvSpPr>
          <p:cNvPr id="30" name="Text 28"/>
          <p:cNvSpPr txBox="1"/>
          <p:nvPr/>
        </p:nvSpPr>
        <p:spPr>
          <a:xfrm>
            <a:off x="8095488" y="2852928"/>
            <a:ext cx="3032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Shipping Cost by Package Size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8095488" y="3291840"/>
            <a:ext cx="30327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AF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Compares average cost across package-size tiers.</a:t>
            </a:r>
            <a:endParaRPr lang="en-US" sz="950" dirty="0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759D19BD-6926-A41B-9F60-7E006FA3E8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" y="768096"/>
            <a:ext cx="10783519" cy="552507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10896" cy="310896"/>
          </a:xfrm>
          <a:prstGeom prst="roundRect">
            <a:avLst>
              <a:gd name="adj" fmla="val 20588"/>
            </a:avLst>
          </a:prstGeom>
          <a:solidFill>
            <a:srgbClr val="29B6D8"/>
          </a:solidFill>
          <a:ln/>
        </p:spPr>
      </p:sp>
      <p:sp>
        <p:nvSpPr>
          <p:cNvPr id="3" name="Shape 1"/>
          <p:cNvSpPr/>
          <p:nvPr/>
        </p:nvSpPr>
        <p:spPr>
          <a:xfrm>
            <a:off x="530352" y="457200"/>
            <a:ext cx="164592" cy="457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530352" y="548640"/>
            <a:ext cx="109728" cy="457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96112" y="310896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Geography &amp; Distance Analysis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896112" y="731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9B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5  •  Where late deliveries concentrate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11551615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96112" y="1234440"/>
            <a:ext cx="5088636" cy="3977640"/>
          </a:xfrm>
          <a:prstGeom prst="roundRect">
            <a:avLst>
              <a:gd name="adj" fmla="val 1609"/>
            </a:avLst>
          </a:prstGeom>
          <a:solidFill>
            <a:srgbClr val="132C4F"/>
          </a:solidFill>
          <a:ln w="12700">
            <a:solidFill>
              <a:srgbClr val="24476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24128" y="1362456"/>
            <a:ext cx="822960" cy="274320"/>
          </a:xfrm>
          <a:prstGeom prst="roundRect">
            <a:avLst>
              <a:gd name="adj" fmla="val 50000"/>
            </a:avLst>
          </a:prstGeom>
          <a:solidFill>
            <a:srgbClr val="29B6D8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24128" y="136245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FILLED MAP</a:t>
            </a:r>
            <a:endParaRPr lang="en-US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1042416" y="1709928"/>
            <a:ext cx="47960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Delivery Rate % by Customer Country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042416" y="2148840"/>
            <a:ext cx="4796028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AF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Choropleth shading each country by its late-delivery rate, so hotspots stand out geographically.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185916" y="1234440"/>
            <a:ext cx="5088636" cy="1883664"/>
          </a:xfrm>
          <a:prstGeom prst="roundRect">
            <a:avLst>
              <a:gd name="adj" fmla="val 3398"/>
            </a:avLst>
          </a:prstGeom>
          <a:solidFill>
            <a:srgbClr val="132C4F"/>
          </a:solidFill>
          <a:ln w="12700">
            <a:solidFill>
              <a:srgbClr val="24476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13932" y="1362456"/>
            <a:ext cx="822960" cy="274320"/>
          </a:xfrm>
          <a:prstGeom prst="roundRect">
            <a:avLst>
              <a:gd name="adj" fmla="val 50000"/>
            </a:avLst>
          </a:prstGeom>
          <a:solidFill>
            <a:srgbClr val="29B6D8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313932" y="136245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FUNNEL</a:t>
            </a:r>
            <a:endParaRPr lang="en-US" sz="850" dirty="0"/>
          </a:p>
        </p:txBody>
      </p:sp>
      <p:sp>
        <p:nvSpPr>
          <p:cNvPr id="16" name="Text 14"/>
          <p:cNvSpPr txBox="1"/>
          <p:nvPr/>
        </p:nvSpPr>
        <p:spPr>
          <a:xfrm>
            <a:off x="6332220" y="1709928"/>
            <a:ext cx="47960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 by Customer Country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332220" y="2148840"/>
            <a:ext cx="4796028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AF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Ranks countries by order volume, largest to smallest.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185916" y="3319272"/>
            <a:ext cx="5088636" cy="1892808"/>
          </a:xfrm>
          <a:prstGeom prst="roundRect">
            <a:avLst>
              <a:gd name="adj" fmla="val 3382"/>
            </a:avLst>
          </a:prstGeom>
          <a:solidFill>
            <a:srgbClr val="132C4F"/>
          </a:solidFill>
          <a:ln w="12700">
            <a:solidFill>
              <a:srgbClr val="24476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313932" y="3447288"/>
            <a:ext cx="822960" cy="274320"/>
          </a:xfrm>
          <a:prstGeom prst="roundRect">
            <a:avLst>
              <a:gd name="adj" fmla="val 50000"/>
            </a:avLst>
          </a:prstGeom>
          <a:solidFill>
            <a:srgbClr val="29B6D8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313932" y="344728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</a:t>
            </a:r>
            <a:endParaRPr lang="en-US" sz="850" dirty="0"/>
          </a:p>
        </p:txBody>
      </p:sp>
      <p:sp>
        <p:nvSpPr>
          <p:cNvPr id="21" name="Text 19"/>
          <p:cNvSpPr txBox="1"/>
          <p:nvPr/>
        </p:nvSpPr>
        <p:spPr>
          <a:xfrm>
            <a:off x="6332220" y="3794760"/>
            <a:ext cx="47960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Delivery Rate % by Distance Band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6332220" y="4233672"/>
            <a:ext cx="479602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AF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Compares lateness across short, medium and long shipping distances.</a:t>
            </a:r>
            <a:endParaRPr lang="en-US" sz="95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CBAF1675-E1A9-ED36-D5EB-686BD4C463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5" y="753384"/>
            <a:ext cx="10652573" cy="5387807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10896" cy="310896"/>
          </a:xfrm>
          <a:prstGeom prst="roundRect">
            <a:avLst>
              <a:gd name="adj" fmla="val 20588"/>
            </a:avLst>
          </a:prstGeom>
          <a:solidFill>
            <a:srgbClr val="29B6D8"/>
          </a:solidFill>
          <a:ln/>
        </p:spPr>
      </p:sp>
      <p:sp>
        <p:nvSpPr>
          <p:cNvPr id="3" name="Shape 1"/>
          <p:cNvSpPr/>
          <p:nvPr/>
        </p:nvSpPr>
        <p:spPr>
          <a:xfrm>
            <a:off x="530352" y="457200"/>
            <a:ext cx="164592" cy="457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530352" y="548640"/>
            <a:ext cx="109728" cy="457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96112" y="310896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Order Detail (Drill-Through)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896112" y="731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9B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6  •  Right-click any chart to land on a single order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11551615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96112" y="1234440"/>
            <a:ext cx="2450592" cy="960120"/>
          </a:xfrm>
          <a:prstGeom prst="roundRect">
            <a:avLst>
              <a:gd name="adj" fmla="val 8571"/>
            </a:avLst>
          </a:prstGeom>
          <a:solidFill>
            <a:srgbClr val="132C4F"/>
          </a:solidFill>
          <a:ln w="9525">
            <a:solidFill>
              <a:srgbClr val="29B6D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96112" y="1325880"/>
            <a:ext cx="2450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—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969264" y="1810512"/>
            <a:ext cx="23042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AF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Promised Days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493008" y="1234440"/>
            <a:ext cx="2450592" cy="960120"/>
          </a:xfrm>
          <a:prstGeom prst="roundRect">
            <a:avLst>
              <a:gd name="adj" fmla="val 8571"/>
            </a:avLst>
          </a:prstGeom>
          <a:solidFill>
            <a:srgbClr val="132C4F"/>
          </a:solidFill>
          <a:ln w="9525">
            <a:solidFill>
              <a:srgbClr val="29B6D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493008" y="1325880"/>
            <a:ext cx="2450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—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3566160" y="1810512"/>
            <a:ext cx="23042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AF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Delivery days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089904" y="1234440"/>
            <a:ext cx="2450592" cy="960120"/>
          </a:xfrm>
          <a:prstGeom prst="roundRect">
            <a:avLst>
              <a:gd name="adj" fmla="val 8571"/>
            </a:avLst>
          </a:prstGeom>
          <a:solidFill>
            <a:srgbClr val="132C4F"/>
          </a:solidFill>
          <a:ln w="9525">
            <a:solidFill>
              <a:srgbClr val="29B6D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089904" y="1325880"/>
            <a:ext cx="2450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—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6163056" y="1810512"/>
            <a:ext cx="23042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AF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Shipping Cost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8686800" y="1234440"/>
            <a:ext cx="2450592" cy="960120"/>
          </a:xfrm>
          <a:prstGeom prst="roundRect">
            <a:avLst>
              <a:gd name="adj" fmla="val 8571"/>
            </a:avLst>
          </a:prstGeom>
          <a:solidFill>
            <a:srgbClr val="132C4F"/>
          </a:solidFill>
          <a:ln w="9525">
            <a:solidFill>
              <a:srgbClr val="29B6D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686800" y="1325880"/>
            <a:ext cx="2450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—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8759952" y="1810512"/>
            <a:ext cx="23042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AF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896112" y="2468880"/>
            <a:ext cx="10378440" cy="2834640"/>
          </a:xfrm>
          <a:prstGeom prst="roundRect">
            <a:avLst>
              <a:gd name="adj" fmla="val 2258"/>
            </a:avLst>
          </a:prstGeom>
          <a:solidFill>
            <a:srgbClr val="132C4F"/>
          </a:solidFill>
          <a:ln w="12700">
            <a:solidFill>
              <a:srgbClr val="24476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042416" y="2560320"/>
            <a:ext cx="10085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Detail Table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1042416" y="2861546"/>
            <a:ext cx="1008583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AF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Order_id   •   Order value (sum)   •   Shipping cost (sum)   •   Distance (sum)   •   Actual / Promised delivery days   •   Delivery attempts   •   Carrier   •   Late_delivery   •   Customer_id / segment / city / country</a:t>
            </a:r>
            <a:endParaRPr lang="en-US" sz="90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E18FA5EE-7311-5BAC-E245-255AF1F9DB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" y="704614"/>
            <a:ext cx="10643243" cy="544877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10896" cy="310896"/>
          </a:xfrm>
          <a:prstGeom prst="roundRect">
            <a:avLst>
              <a:gd name="adj" fmla="val 20588"/>
            </a:avLst>
          </a:prstGeom>
          <a:solidFill>
            <a:srgbClr val="29B6D8"/>
          </a:solidFill>
          <a:ln/>
        </p:spPr>
      </p:sp>
      <p:sp>
        <p:nvSpPr>
          <p:cNvPr id="3" name="Shape 1"/>
          <p:cNvSpPr/>
          <p:nvPr/>
        </p:nvSpPr>
        <p:spPr>
          <a:xfrm>
            <a:off x="530352" y="457200"/>
            <a:ext cx="164592" cy="457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530352" y="548640"/>
            <a:ext cx="109728" cy="457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96112" y="310896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Insights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896112" y="731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9B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7 (bonus)  •  What the numbers in the live report actually say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11551615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96112" y="1234440"/>
            <a:ext cx="3310128" cy="2331720"/>
          </a:xfrm>
          <a:prstGeom prst="roundRect">
            <a:avLst>
              <a:gd name="adj" fmla="val 2745"/>
            </a:avLst>
          </a:prstGeom>
          <a:solidFill>
            <a:srgbClr val="132C4F"/>
          </a:solidFill>
          <a:ln w="12700">
            <a:solidFill>
              <a:srgbClr val="24476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24128" y="1362456"/>
            <a:ext cx="713232" cy="274320"/>
          </a:xfrm>
          <a:prstGeom prst="roundRect">
            <a:avLst>
              <a:gd name="adj" fmla="val 50000"/>
            </a:avLst>
          </a:prstGeom>
          <a:solidFill>
            <a:srgbClr val="E8743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24128" y="1362456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1042416" y="1709928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56.32% late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1042416" y="2221992"/>
            <a:ext cx="3017520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AF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all 50,000 orders arrive after the promised date — more orders are late than on time.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389120" y="1234440"/>
            <a:ext cx="3310128" cy="2331720"/>
          </a:xfrm>
          <a:prstGeom prst="roundRect">
            <a:avLst>
              <a:gd name="adj" fmla="val 2745"/>
            </a:avLst>
          </a:prstGeom>
          <a:solidFill>
            <a:srgbClr val="132C4F"/>
          </a:solidFill>
          <a:ln w="12700">
            <a:solidFill>
              <a:srgbClr val="24476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17136" y="1362456"/>
            <a:ext cx="713232" cy="274320"/>
          </a:xfrm>
          <a:prstGeom prst="roundRect">
            <a:avLst>
              <a:gd name="adj" fmla="val 50000"/>
            </a:avLst>
          </a:prstGeom>
          <a:solidFill>
            <a:srgbClr val="E8743B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517136" y="1362456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</a:t>
            </a:r>
            <a:endParaRPr lang="en-US" sz="850" dirty="0"/>
          </a:p>
        </p:txBody>
      </p:sp>
      <p:sp>
        <p:nvSpPr>
          <p:cNvPr id="16" name="Text 14"/>
          <p:cNvSpPr txBox="1"/>
          <p:nvPr/>
        </p:nvSpPr>
        <p:spPr>
          <a:xfrm>
            <a:off x="4535424" y="1709928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65.75% vs 47.34%</a:t>
            </a:r>
            <a:endParaRPr lang="en-US" sz="1900" dirty="0"/>
          </a:p>
        </p:txBody>
      </p:sp>
      <p:sp>
        <p:nvSpPr>
          <p:cNvPr id="17" name="Text 15"/>
          <p:cNvSpPr txBox="1"/>
          <p:nvPr/>
        </p:nvSpPr>
        <p:spPr>
          <a:xfrm>
            <a:off x="4535424" y="2221992"/>
            <a:ext cx="3017520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AF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GlobalExpress runs the worst carrier late rate; SwiftShip the best — an 18-point gap at similar volume.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882128" y="1234440"/>
            <a:ext cx="3310128" cy="2331720"/>
          </a:xfrm>
          <a:prstGeom prst="roundRect">
            <a:avLst>
              <a:gd name="adj" fmla="val 2745"/>
            </a:avLst>
          </a:prstGeom>
          <a:solidFill>
            <a:srgbClr val="132C4F"/>
          </a:solidFill>
          <a:ln w="12700">
            <a:solidFill>
              <a:srgbClr val="24476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10144" y="1362456"/>
            <a:ext cx="713232" cy="274320"/>
          </a:xfrm>
          <a:prstGeom prst="roundRect">
            <a:avLst>
              <a:gd name="adj" fmla="val 50000"/>
            </a:avLst>
          </a:prstGeom>
          <a:solidFill>
            <a:srgbClr val="E8743B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010144" y="1362456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</a:t>
            </a:r>
            <a:endParaRPr lang="en-US" sz="850" dirty="0"/>
          </a:p>
        </p:txBody>
      </p:sp>
      <p:sp>
        <p:nvSpPr>
          <p:cNvPr id="21" name="Text 19"/>
          <p:cNvSpPr txBox="1"/>
          <p:nvPr/>
        </p:nvSpPr>
        <p:spPr>
          <a:xfrm>
            <a:off x="8028432" y="1709928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67.03% vs 31.48%</a:t>
            </a:r>
            <a:endParaRPr lang="en-US" sz="1900" dirty="0"/>
          </a:p>
        </p:txBody>
      </p:sp>
      <p:sp>
        <p:nvSpPr>
          <p:cNvPr id="22" name="Text 20"/>
          <p:cNvSpPr txBox="1"/>
          <p:nvPr/>
        </p:nvSpPr>
        <p:spPr>
          <a:xfrm>
            <a:off x="8028432" y="2221992"/>
            <a:ext cx="3017520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AF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International-distance orders are more than twice as likely to be late as Local ones — the sharpest split in the report.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96112" y="3767328"/>
            <a:ext cx="3310128" cy="2331720"/>
          </a:xfrm>
          <a:prstGeom prst="roundRect">
            <a:avLst>
              <a:gd name="adj" fmla="val 2745"/>
            </a:avLst>
          </a:prstGeom>
          <a:solidFill>
            <a:srgbClr val="132C4F"/>
          </a:solidFill>
          <a:ln w="12700">
            <a:solidFill>
              <a:srgbClr val="24476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24128" y="3895344"/>
            <a:ext cx="713232" cy="274320"/>
          </a:xfrm>
          <a:prstGeom prst="roundRect">
            <a:avLst>
              <a:gd name="adj" fmla="val 50000"/>
            </a:avLst>
          </a:prstGeom>
          <a:solidFill>
            <a:srgbClr val="29B6D8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1024128" y="3895344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</a:t>
            </a:r>
            <a:endParaRPr lang="en-US" sz="850" dirty="0"/>
          </a:p>
        </p:txBody>
      </p:sp>
      <p:sp>
        <p:nvSpPr>
          <p:cNvPr id="26" name="Text 24"/>
          <p:cNvSpPr txBox="1"/>
          <p:nvPr/>
        </p:nvSpPr>
        <p:spPr>
          <a:xfrm>
            <a:off x="1042416" y="4242816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0.6 → 3.1 days</a:t>
            </a:r>
            <a:endParaRPr lang="en-US" sz="1900" dirty="0"/>
          </a:p>
        </p:txBody>
      </p:sp>
      <p:sp>
        <p:nvSpPr>
          <p:cNvPr id="27" name="Text 25"/>
          <p:cNvSpPr txBox="1"/>
          <p:nvPr/>
        </p:nvSpPr>
        <p:spPr>
          <a:xfrm>
            <a:off x="1042416" y="4754880"/>
            <a:ext cx="3017520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AF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delay swings 5x by weather, from Clear (0.6 days) up to Snow (3.1 days).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389120" y="3767328"/>
            <a:ext cx="3310128" cy="2331720"/>
          </a:xfrm>
          <a:prstGeom prst="roundRect">
            <a:avLst>
              <a:gd name="adj" fmla="val 2745"/>
            </a:avLst>
          </a:prstGeom>
          <a:solidFill>
            <a:srgbClr val="132C4F"/>
          </a:solidFill>
          <a:ln w="12700">
            <a:solidFill>
              <a:srgbClr val="24476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17136" y="3895344"/>
            <a:ext cx="713232" cy="274320"/>
          </a:xfrm>
          <a:prstGeom prst="roundRect">
            <a:avLst>
              <a:gd name="adj" fmla="val 50000"/>
            </a:avLst>
          </a:prstGeom>
          <a:solidFill>
            <a:srgbClr val="29B6D8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4517136" y="3895344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</a:t>
            </a:r>
            <a:endParaRPr lang="en-US" sz="850" dirty="0"/>
          </a:p>
        </p:txBody>
      </p:sp>
      <p:sp>
        <p:nvSpPr>
          <p:cNvPr id="31" name="Text 29"/>
          <p:cNvSpPr txBox="1"/>
          <p:nvPr/>
        </p:nvSpPr>
        <p:spPr>
          <a:xfrm>
            <a:off x="4535424" y="4242816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~58% under $100</a:t>
            </a:r>
            <a:endParaRPr lang="en-US" sz="1900" dirty="0"/>
          </a:p>
        </p:txBody>
      </p:sp>
      <p:sp>
        <p:nvSpPr>
          <p:cNvPr id="32" name="Text 30"/>
          <p:cNvSpPr txBox="1"/>
          <p:nvPr/>
        </p:nvSpPr>
        <p:spPr>
          <a:xfrm>
            <a:off x="4535424" y="4754880"/>
            <a:ext cx="3017520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AF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orders are low-ticket, yet International shipments still cost the most in aggregate.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7882128" y="3767328"/>
            <a:ext cx="3310128" cy="2331720"/>
          </a:xfrm>
          <a:prstGeom prst="roundRect">
            <a:avLst>
              <a:gd name="adj" fmla="val 2745"/>
            </a:avLst>
          </a:prstGeom>
          <a:solidFill>
            <a:srgbClr val="132C4F"/>
          </a:solidFill>
          <a:ln w="12700">
            <a:solidFill>
              <a:srgbClr val="24476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010144" y="3895344"/>
            <a:ext cx="713232" cy="274320"/>
          </a:xfrm>
          <a:prstGeom prst="roundRect">
            <a:avLst>
              <a:gd name="adj" fmla="val 50000"/>
            </a:avLst>
          </a:prstGeom>
          <a:solidFill>
            <a:srgbClr val="29B6D8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8010144" y="3895344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DRIVER</a:t>
            </a:r>
            <a:endParaRPr lang="en-US" sz="850" dirty="0"/>
          </a:p>
        </p:txBody>
      </p:sp>
      <p:sp>
        <p:nvSpPr>
          <p:cNvPr id="36" name="Text 34"/>
          <p:cNvSpPr txBox="1"/>
          <p:nvPr/>
        </p:nvSpPr>
        <p:spPr>
          <a:xfrm>
            <a:off x="8028432" y="4242816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55.75%–57.59%</a:t>
            </a:r>
            <a:endParaRPr lang="en-US" sz="1900" dirty="0"/>
          </a:p>
        </p:txBody>
      </p:sp>
      <p:sp>
        <p:nvSpPr>
          <p:cNvPr id="37" name="Text 35"/>
          <p:cNvSpPr txBox="1"/>
          <p:nvPr/>
        </p:nvSpPr>
        <p:spPr>
          <a:xfrm>
            <a:off x="8028432" y="4754880"/>
            <a:ext cx="3017520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AF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rate barely moves warehouse to warehouse — carrier and distance drive lateness, not warehouse ops.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10896" cy="310896"/>
          </a:xfrm>
          <a:prstGeom prst="roundRect">
            <a:avLst>
              <a:gd name="adj" fmla="val 20588"/>
            </a:avLst>
          </a:prstGeom>
          <a:solidFill>
            <a:srgbClr val="0B1F3A"/>
          </a:solidFill>
          <a:ln/>
        </p:spPr>
      </p:sp>
      <p:sp>
        <p:nvSpPr>
          <p:cNvPr id="3" name="Shape 1"/>
          <p:cNvSpPr/>
          <p:nvPr/>
        </p:nvSpPr>
        <p:spPr>
          <a:xfrm>
            <a:off x="530352" y="457200"/>
            <a:ext cx="164592" cy="457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530352" y="548640"/>
            <a:ext cx="109728" cy="457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96112" y="310896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Recommended Page Order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896112" y="71323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viewer moves through the report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0" y="6492240"/>
            <a:ext cx="116430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DELIVERY ANALYTICS  •  DASHBOARD DESIGN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11551615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96112" y="2103120"/>
            <a:ext cx="1627632" cy="2377440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12700">
            <a:solidFill>
              <a:srgbClr val="D7E0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508760" y="1901952"/>
            <a:ext cx="402336" cy="402336"/>
          </a:xfrm>
          <a:prstGeom prst="ellipse">
            <a:avLst/>
          </a:prstGeom>
          <a:solidFill>
            <a:srgbClr val="E8743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508760" y="19019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987552" y="2423160"/>
            <a:ext cx="14447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Overview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987552" y="3337560"/>
            <a:ext cx="14447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 on the headline numbers first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2496312" y="306324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7E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2642616" y="2103120"/>
            <a:ext cx="1627632" cy="2377440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12700">
            <a:solidFill>
              <a:srgbClr val="D7E0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55264" y="1901952"/>
            <a:ext cx="402336" cy="402336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3255264" y="19019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2734056" y="2423160"/>
            <a:ext cx="14447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Performance &amp; SLA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2734056" y="3337560"/>
            <a:ext cx="14447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where and why SLAs slip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4242816" y="306324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7E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4389120" y="2103120"/>
            <a:ext cx="1627632" cy="2377440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12700">
            <a:solidFill>
              <a:srgbClr val="D7E0E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01768" y="1901952"/>
            <a:ext cx="402336" cy="402336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5001768" y="19019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4480560" y="2423160"/>
            <a:ext cx="14447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Carrier &amp; Warehouse Scorecards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4480560" y="3337560"/>
            <a:ext cx="14447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who's responsible</a:t>
            </a:r>
            <a:endParaRPr lang="en-US" sz="950" dirty="0"/>
          </a:p>
        </p:txBody>
      </p:sp>
      <p:sp>
        <p:nvSpPr>
          <p:cNvPr id="26" name="Text 24"/>
          <p:cNvSpPr txBox="1"/>
          <p:nvPr/>
        </p:nvSpPr>
        <p:spPr>
          <a:xfrm>
            <a:off x="5989320" y="306324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7E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6135624" y="2103120"/>
            <a:ext cx="1627632" cy="2377440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12700">
            <a:solidFill>
              <a:srgbClr val="D7E0E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748272" y="1901952"/>
            <a:ext cx="402336" cy="402336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748272" y="19019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6227064" y="2423160"/>
            <a:ext cx="14447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&amp; Shipping Economics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6227064" y="3337560"/>
            <a:ext cx="14447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the cost trade-offs</a:t>
            </a:r>
            <a:endParaRPr lang="en-US" sz="950" dirty="0"/>
          </a:p>
        </p:txBody>
      </p:sp>
      <p:sp>
        <p:nvSpPr>
          <p:cNvPr id="32" name="Text 30"/>
          <p:cNvSpPr txBox="1"/>
          <p:nvPr/>
        </p:nvSpPr>
        <p:spPr>
          <a:xfrm>
            <a:off x="7735824" y="306324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7E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33" name="Shape 31"/>
          <p:cNvSpPr/>
          <p:nvPr/>
        </p:nvSpPr>
        <p:spPr>
          <a:xfrm>
            <a:off x="7882128" y="2103120"/>
            <a:ext cx="1627632" cy="2377440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12700">
            <a:solidFill>
              <a:srgbClr val="D7E0E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494776" y="1901952"/>
            <a:ext cx="402336" cy="402336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8494776" y="19019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7973568" y="2423160"/>
            <a:ext cx="14447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&amp; Distance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7973568" y="3337560"/>
            <a:ext cx="14447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where it concentrates</a:t>
            </a:r>
            <a:endParaRPr lang="en-US" sz="950" dirty="0"/>
          </a:p>
        </p:txBody>
      </p:sp>
      <p:sp>
        <p:nvSpPr>
          <p:cNvPr id="38" name="Text 36"/>
          <p:cNvSpPr txBox="1"/>
          <p:nvPr/>
        </p:nvSpPr>
        <p:spPr>
          <a:xfrm>
            <a:off x="9482328" y="306324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7E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39" name="Shape 37"/>
          <p:cNvSpPr/>
          <p:nvPr/>
        </p:nvSpPr>
        <p:spPr>
          <a:xfrm>
            <a:off x="9628632" y="2103120"/>
            <a:ext cx="1627632" cy="2377440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12700">
            <a:solidFill>
              <a:srgbClr val="D7E0EB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0241280" y="1901952"/>
            <a:ext cx="402336" cy="402336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10241280" y="19019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42" name="Text 40"/>
          <p:cNvSpPr txBox="1"/>
          <p:nvPr/>
        </p:nvSpPr>
        <p:spPr>
          <a:xfrm>
            <a:off x="9720072" y="2423160"/>
            <a:ext cx="14447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Detail</a:t>
            </a:r>
            <a:endParaRPr lang="en-US" sz="1100" dirty="0"/>
          </a:p>
        </p:txBody>
      </p:sp>
      <p:sp>
        <p:nvSpPr>
          <p:cNvPr id="43" name="Text 41"/>
          <p:cNvSpPr txBox="1"/>
          <p:nvPr/>
        </p:nvSpPr>
        <p:spPr>
          <a:xfrm>
            <a:off x="9720072" y="3337560"/>
            <a:ext cx="14447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Drill into any single order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43525" y="1298448"/>
            <a:ext cx="2926080" cy="2926080"/>
          </a:xfrm>
          <a:prstGeom prst="ellipse">
            <a:avLst/>
          </a:prstGeom>
          <a:solidFill>
            <a:srgbClr val="29B6D8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54335" y="-1280160"/>
            <a:ext cx="2377440" cy="2377440"/>
          </a:xfrm>
          <a:prstGeom prst="ellipse">
            <a:avLst/>
          </a:prstGeom>
          <a:solidFill>
            <a:srgbClr val="E8743B">
              <a:alpha val="35000"/>
            </a:srgbClr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1551615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4628357" y="276148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0" b="1" i="1" dirty="0">
                <a:solidFill>
                  <a:srgbClr val="29B6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8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1607</Words>
  <Application>Microsoft Office PowerPoint</Application>
  <PresentationFormat>Widescreen</PresentationFormat>
  <Paragraphs>295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Nidhin v b</cp:lastModifiedBy>
  <cp:revision>5</cp:revision>
  <dcterms:created xsi:type="dcterms:W3CDTF">2026-09-14T16:02:43Z</dcterms:created>
  <dcterms:modified xsi:type="dcterms:W3CDTF">2026-09-16T15:41:28Z</dcterms:modified>
</cp:coreProperties>
</file>